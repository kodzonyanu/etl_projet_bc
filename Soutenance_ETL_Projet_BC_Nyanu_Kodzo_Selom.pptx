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88952" cy="30861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1247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B9BD5"/>
                </a:solidFill>
              </a:rPr>
              <a:t>PROJET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Intégration BC ↔ Solution Externe
&amp; Tableau de Bord Interactif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2F7FB"/>
                </a:solidFill>
              </a:rPr>
              <a:t>Analyse logistique multi-sources :
Kilométrage véhicules · Expéditions BC ·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Nyanu Kodzo Selom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2F7FB"/>
                </a:solidFill>
              </a:rPr>
              <a:t>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2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794760" cy="2286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79476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0817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1. Contexte &amp; Problématique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Situation initiale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Données fragmentées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Objectifs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371600"/>
            <a:ext cx="3794760" cy="2286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371600"/>
            <a:ext cx="379476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19" y="140817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2. Architecture &amp; Conception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182880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Pipeline médaillon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6 tables BC (AL)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Infrastructure Docker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794760" cy="2286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79476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40817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3. Mise en œuvre technique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2880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13 workflows n8n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API OData BC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Automatisation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0480"/>
            <a:ext cx="3794760" cy="2286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3794760" cy="3474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87705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4. Tests &amp; Résultats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10 tests fonctionnels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20 505 enreg. Gold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25s / exécution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3840480"/>
            <a:ext cx="3794760" cy="2286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3840480"/>
            <a:ext cx="3794760" cy="3474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19" y="387705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5. Tableau de bord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429768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7 dashboards Metabase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3 rôles utilisateurs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Liens de partage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840480"/>
            <a:ext cx="3794760" cy="2286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840480"/>
            <a:ext cx="3794760" cy="3474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87705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6. Gestion de projet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29768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Analyse risques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TCO / ROI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Planification &amp; écarts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Pourquoi ce projet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3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303520" cy="52120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30352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Situation initiale — Données fragmentées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3864"/>
                </a:solidFill>
              </a:rPr>
              <a:t>📁  Fichiers CSV/JSON locaux — clients, articles, expéditions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3864"/>
                </a:solidFill>
              </a:rPr>
              <a:t>📡  Application GPS → sessions kilométriques en temps réel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3864"/>
                </a:solidFill>
              </a:rPr>
              <a:t>🛒  Historique e-commerce — 19 990 lignes non intégrées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3864"/>
                </a:solidFill>
              </a:rPr>
              <a:t>🗄️  PostgreSQL Windows (10.14.219.2) — données métier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3864"/>
                </a:solidFill>
              </a:rPr>
              <a:t>❌  Aucune consolidation → analyse impossible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3864"/>
                </a:solidFill>
              </a:rPr>
              <a:t>⏱️  Extractions manuelles → 2h/jour perdues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371600"/>
            <a:ext cx="6035040" cy="52120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1371600"/>
            <a:ext cx="6035040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38988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Objectifs du projet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920240"/>
            <a:ext cx="68580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93852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9385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Centraliser 4 sources dans BC via pipeline ETL automatisé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578608"/>
            <a:ext cx="68580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596896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OBJ-02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5968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Synchroniser BC → Data Warehouse Gold (PostgreSQL)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236976"/>
            <a:ext cx="68580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255264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2552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Publier 7 dashboards interactifs Metabase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895344"/>
            <a:ext cx="68580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391363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9136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Automatisation 100% — 0 intervention manuelle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4553712"/>
            <a:ext cx="68580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457200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OBJ-05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Monitoring automatique avec alertes &lt; 30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du Pipeline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Approche médaillon : Sources → Bronze → Silver (BC) → Gold →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4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325880"/>
            <a:ext cx="2240280" cy="49377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35331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7451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CSV/JSON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37743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GPS Webhook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880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E-commerce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383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PG 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1325880"/>
            <a:ext cx="2240280" cy="49377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135331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187451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MinIO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37743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172.18.0.3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880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bucket:bronze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383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etl-projet-bc/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325880"/>
            <a:ext cx="2240280" cy="4937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35331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BC (Silver)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87451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BC 26.0 OnPrem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37743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API OData v1.0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880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Proxy NTLM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383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6 tables ETL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1325880"/>
            <a:ext cx="2240280" cy="4937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135331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87451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37743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172.18.0.4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880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schema:bc_gold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383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6 tables + vues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1325880"/>
            <a:ext cx="2240280" cy="49377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135331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187451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Metabase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37743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172.18.0.7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880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7 Dashboards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383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3 rôles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539496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</a:rPr>
              <a:t>WF-01BC
WF-03BC
WF-04B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539496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</a:rPr>
              <a:t>WF-08A–F
(OData)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539496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</a:rPr>
              <a:t>WF-09BC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539496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</a:rPr>
              <a:t>Metabase
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Infrastructure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Réseau etl_network — 6 containers sur 172.18.0.0/24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5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2788920" cy="22402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18688" y="1417320"/>
            <a:ext cx="2788920" cy="2240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149047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172.18.0.3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18562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7FB"/>
                </a:solidFill>
              </a:rPr>
              <a:t>datalake_minio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313432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MinIO S3
Stockage Bronze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417320"/>
            <a:ext cx="2788920" cy="22402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49047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172.18.0.4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18562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7FB"/>
                </a:solidFill>
              </a:rPr>
              <a:t>dwh_postgres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2313432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PostgreSQL 15
Data Warehouse Gold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1417320"/>
            <a:ext cx="2788920" cy="2240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49047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172.18.0.5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185623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7FB"/>
                </a:solidFill>
              </a:rPr>
              <a:t>ingestion_n8n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313432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n8n 2.21.7
Orchestration ETL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886200"/>
            <a:ext cx="2788920" cy="22402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395935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172.18.0.6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43251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7FB"/>
                </a:solidFill>
              </a:rPr>
              <a:t>etl_runner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4782312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ETL Runner
Auxiliaire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18688" y="3886200"/>
            <a:ext cx="2788920" cy="22402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18688" y="395935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172.18.0.7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18688" y="43251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7FB"/>
                </a:solidFill>
              </a:rPr>
              <a:t>analytics_metabase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8688" y="4782312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Metabase v0.52.9
BI &amp; Visualisation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3886200"/>
            <a:ext cx="2788920" cy="22402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8776" y="395935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172.18.0.8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43251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7FB"/>
                </a:solidFill>
              </a:rPr>
              <a:t>bc_ntlm_proxy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8776" y="4782312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Proxy NTLM
→ Business Central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Conception des Tables 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6 tables AL exposées via API OData etlpipeline/warehouse/v1.0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6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71600"/>
            <a:ext cx="3794760" cy="23317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371600"/>
            <a:ext cx="379476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081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etlCustomers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40817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9BD5"/>
                </a:solidFill>
              </a:rPr>
              <a:t>90 enreg.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745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customerId (PK)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042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name, country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7340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postCode, currencyCode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638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locationCode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371600"/>
            <a:ext cx="3794760" cy="23317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24528" y="1371600"/>
            <a:ext cx="379476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14081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etlArticles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40817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9BD5"/>
                </a:solidFill>
              </a:rPr>
              <a:t>193 enreg.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18745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articleId (PK)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23042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7340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unitPrice, uomCode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31638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itemCategory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3886200"/>
            <a:ext cx="3794760" cy="23317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0456" y="3886200"/>
            <a:ext cx="379476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39227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etlShipmentHeaders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72216" y="392277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9BD5"/>
                </a:solidFill>
              </a:rPr>
              <a:t>101 enreg.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4389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headerId (PK)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48188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customerNo (FK)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52486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shipmentDate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56784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shipToCity/Country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886200"/>
            <a:ext cx="3794760" cy="23317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3886200"/>
            <a:ext cx="379476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9227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etlShipmentLines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392277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9BD5"/>
                </a:solidFill>
              </a:rPr>
              <a:t>114 enreg.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389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(documentNo, lineNo) PK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8188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articleId (FK)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2486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quantity, uomCode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6784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grossWeight, netWeight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4528" y="6400800"/>
            <a:ext cx="3794760" cy="23317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24528" y="6400800"/>
            <a:ext cx="379476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64373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etlDistances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6288" y="643737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9BD5"/>
                </a:solidFill>
              </a:rPr>
              <a:t>17 sessions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61688" y="69037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sessionId (PK)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61688" y="73334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sessionDate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61688" y="77632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totalDistanceKm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61688" y="81930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maxSpeedKmh, avgSpeedKmh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0456" y="6400800"/>
            <a:ext cx="3794760" cy="23317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0456" y="6400800"/>
            <a:ext cx="379476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64373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etlEcommerceLines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72216" y="643737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9BD5"/>
                </a:solidFill>
              </a:rPr>
              <a:t>19 990 enreg.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57616" y="69037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(invoiceNo, lineNo) PK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57616" y="73334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customerId, stockCode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7616" y="77632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quantity, unitPrice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57616" y="81930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</a:rPr>
              <a:t>▸ totalAmount, country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Méthode d'Accès — API OData BC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Choix justifié parmi 4 alternatives évaluées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7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71600"/>
            <a:ext cx="2788920" cy="5166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630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API OData BC v1.0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116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9D18E"/>
                </a:solidFill>
              </a:rPr>
              <a:t>✅ RETENU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Standard REST officiel Microsoft
CRUD complet · Pagination · NTLM
Intégration native n8n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86400"/>
            <a:ext cx="1691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7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</a:rPr>
              <a:t>Score : 9/10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1371600"/>
            <a:ext cx="2788920" cy="51663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4630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 Export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20116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</a:rPr>
              <a:t>⚠️ Écarté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46888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Export masse uniquement
Unidirectionnel
Pas d'incrémental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67328" y="5486400"/>
            <a:ext cx="1691640" cy="59436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7328" y="5504687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Score : 5/10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1371600"/>
            <a:ext cx="2788920" cy="51663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4630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Fichiers plats 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0116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</a:rPr>
              <a:t>❌ Écarté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46888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Processus manuel
Risque erreurs format
Pas de temps réel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7416" y="5486400"/>
            <a:ext cx="1691640" cy="59436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7416" y="5504687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Score : 4/10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98864" y="1371600"/>
            <a:ext cx="2788920" cy="51663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14630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Connecteur tiers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0116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</a:rPr>
              <a:t>❌ Écarté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6024" y="246888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Coût licence élevé
Dépendance cloud
Hors périmètre infra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7504" y="5486400"/>
            <a:ext cx="1691640" cy="59436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47504" y="5504687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Score : 3/10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</a:rPr>
              <a:t>URL : http://172.18.0.8:3128/BC260/api/etlpipeline/warehouse/v1.0/companies(e6317465...)/etlCustomers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Flux ETL — 6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Extraction → Transformation → Bronze → BC → Gold →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8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371600"/>
            <a:ext cx="1828800" cy="51663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371600"/>
            <a:ext cx="18288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1.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2F7FB"/>
                </a:solidFill>
              </a:rPr>
              <a:t>WF-01BC
WF-03BC
WF-04B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27432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CSV/JSON, PG Windows,
GPS webhook → staging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30175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7128" y="1371600"/>
            <a:ext cx="1828800" cy="51663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7128" y="1371600"/>
            <a:ext cx="18288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12848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2. Transformation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2F7FB"/>
                </a:solidFill>
              </a:rPr>
              <a:t>Nœuds
Code 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7432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Normalisation, troncature
ISO, agrégats GPS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30175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51376" y="1371600"/>
            <a:ext cx="1828800" cy="51663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1371600"/>
            <a:ext cx="18288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7096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3. Bronze MinIO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7096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2F7FB"/>
                </a:solidFill>
              </a:rPr>
              <a:t>PUT S3
bucket:bronze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7432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JSON par entité
Checksum MD5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30175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5624" y="1371600"/>
            <a:ext cx="1828800" cy="5166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35624" y="1371600"/>
            <a:ext cx="18288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1344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4. Import BC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2F7FB"/>
                </a:solidFill>
              </a:rPr>
              <a:t>WF-08A–F
OData 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27432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PATCH/POST vers BC
Try/catch par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2" y="30175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9871" y="1371600"/>
            <a:ext cx="1828800" cy="5166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19871" y="1371600"/>
            <a:ext cx="18288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1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5. Export Gold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1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2F7FB"/>
                </a:solidFill>
              </a:rPr>
              <a:t>WF-09BC
GET+UPSERT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3" y="27432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 endpoints BC → PG
25s / 20 505 enreg.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59" y="30175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</a:rP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04119" y="1371600"/>
            <a:ext cx="1828800" cy="51663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04119" y="1371600"/>
            <a:ext cx="18288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39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6. 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39" y="1965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2F7FB"/>
                </a:solidFill>
              </a:rPr>
              <a:t>WF-10BC
30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77271" y="27432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Ping BC + freshness
incident_log anti-spam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Automatisation — 13 Workflows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Déclencheurs : Schedule · Webhook · Sous-workflow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9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71600"/>
            <a:ext cx="2788920" cy="118872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2646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WF-01BC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739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Bronze CSV+JSON → MinIO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1214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Schedule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371600"/>
            <a:ext cx="2788920" cy="118872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42646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WF-03BC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7739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Bronze PG Windows → MinIO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1214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371600"/>
            <a:ext cx="2788920" cy="118872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42646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WF-04B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7739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Distance GPS → MinIO + Gold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1214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Webhook 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1371600"/>
            <a:ext cx="2788920" cy="118872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142646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17739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Véhicules → MinIO + bc_gold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1214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Schedule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697480"/>
            <a:ext cx="2788920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75234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0998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Orchestrateur Bronze → 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44728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Schedule 02h00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18688" y="2697480"/>
            <a:ext cx="2788920" cy="1188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275234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WF-08A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30998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Sync Clients → BC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344728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Sous-workflow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2697480"/>
            <a:ext cx="2788920" cy="1188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275234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WF-08B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30998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Sync Articles → 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344728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Sous-workflow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98864" y="2697480"/>
            <a:ext cx="2788920" cy="1188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0304" y="275234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WF-08C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30998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Sync Headers → BC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344728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Sous-workflow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023360"/>
            <a:ext cx="2788920" cy="1188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07822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WF-08D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442569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Sync Distances → 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4773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Sous-workflow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18688" y="4023360"/>
            <a:ext cx="2788920" cy="1188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0128" y="407822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WF-08E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0128" y="442569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Sync Shiplines → BC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0128" y="4773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Sous-workflow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08776" y="4023360"/>
            <a:ext cx="2788920" cy="1188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0216" y="407822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WF-08F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0216" y="442569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Sync Ecommerce → 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0216" y="4773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Sous-workflow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98864" y="4023360"/>
            <a:ext cx="2788920" cy="1188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90304" y="407822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WF-09BC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90304" y="442569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BC → Gold PostgreSQL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90304" y="4773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Schedule 04h00 + Webhook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18688" y="5349240"/>
            <a:ext cx="2788920" cy="11887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10128" y="540410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WF-10BC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10128" y="575157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Health Monitor + Alertes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0128" y="609904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9D18E"/>
                </a:solidFill>
              </a:rPr>
              <a:t>⏱ Schedule 30min + Webhook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Tests Fonctionnels &amp; Résultats Gold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10 tests réalisés — 100% PASS — Sync 11/06/2026 01:08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10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78892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20 505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842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9BD5"/>
                </a:solidFill>
              </a:rPr>
              <a:t>Enreg. Gold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417320"/>
            <a:ext cx="278892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5087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19842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9BD5"/>
                </a:solidFill>
              </a:rPr>
              <a:t>WF-09BC / exec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417320"/>
            <a:ext cx="278892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5087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10/10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9842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9BD5"/>
                </a:solidFill>
              </a:rPr>
              <a:t>Tests 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4584" y="1417320"/>
            <a:ext cx="278892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15087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19842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9BD5"/>
                </a:solidFill>
              </a:rPr>
              <a:t>Doublons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606040"/>
            <a:ext cx="5852160" cy="38404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606040"/>
            <a:ext cx="585216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2432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Tables bc_gold — État synchronisation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063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E74B5"/>
                </a:solidFill>
              </a:rPr>
              <a:t>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935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articles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593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E74B5"/>
                </a:solidFill>
              </a:rPr>
              <a:t>193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593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239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shipment_headers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1239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E74B5"/>
                </a:solidFill>
              </a:rPr>
              <a:t>101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1239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542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shipment_lines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465429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E74B5"/>
                </a:solidFill>
              </a:rPr>
              <a:t>114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6542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846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distances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1846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E74B5"/>
                </a:solidFill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5184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715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ecommerce_lines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5715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E74B5"/>
                </a:solidFill>
              </a:rPr>
              <a:t>19 990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5715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7C10"/>
                </a:solidFill>
              </a:rP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606040"/>
            <a:ext cx="5577840" cy="38404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2606040"/>
            <a:ext cx="5577840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6243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Anomalies diagnostiquées &amp; résolues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0906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🔧 Workflows CDC parasites → désactivés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6118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🔧 Bug pg-protocol 1.11.0 → s(v,max) + try/catch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13308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🔧 Credential Gmail manquante → log PostgreSQL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6542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🔧 Connexion Schedule erronée → corrigée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17550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✅ Pipeline stable depuis 3 exécutions successives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Tableau de Bord Metabase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7 dashboards · 3 rôles · Metabase v0.52.9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11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417320"/>
            <a:ext cx="2788920" cy="2423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90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#15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73736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🚚 Logistique
Distances &amp; Expéditions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517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7FB"/>
                </a:solidFill>
              </a:rPr>
              <a:t>7 visuels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044952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7FB"/>
                </a:solidFill>
              </a:rPr>
              <a:t>👤 Admin · Logistique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1417320"/>
            <a:ext cx="2788920" cy="2423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490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#21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173736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🚚 Logistique
ETL_Projet_BC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26517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7FB"/>
                </a:solidFill>
              </a:rPr>
              <a:t>13 visuels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3044952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4408" y="308152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7FB"/>
                </a:solidFill>
              </a:rPr>
              <a:t>👤 Admin · Logistique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1417320"/>
            <a:ext cx="2788920" cy="24231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1490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#14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173736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🛒 Ventes
E-Commerce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26517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7FB"/>
                </a:solidFill>
              </a:rPr>
              <a:t>10 visuels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3056" y="3044952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308152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7FB"/>
                </a:solidFill>
              </a:rPr>
              <a:t>👤 Admin · Vente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53144" y="1417320"/>
            <a:ext cx="2788920" cy="24231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1490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#19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173736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🛒 Ventes
ETL_Projet_BC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26517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7FB"/>
                </a:solidFill>
              </a:rPr>
              <a:t>10 visuels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3144" y="3044952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44584" y="308152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7FB"/>
                </a:solidFill>
              </a:rPr>
              <a:t>👤 Admin · Vente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35608" y="4023360"/>
            <a:ext cx="2788920" cy="2423160"/>
          </a:xfrm>
          <a:prstGeom prst="rect">
            <a:avLst/>
          </a:prstGeom>
          <a:solidFill>
            <a:srgbClr val="4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27048" y="40965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#20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43434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📈 Direction
ETL_Projet_BC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52578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7FB"/>
                </a:solidFill>
              </a:rPr>
              <a:t>12 visuels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35608" y="5650992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27048" y="568756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7FB"/>
                </a:solidFill>
              </a:rPr>
              <a:t>👤 Admin only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25696" y="4023360"/>
            <a:ext cx="2788920" cy="24231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7136" y="40965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#16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7136" y="43434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👥 Clients
Géographie &amp; Analyse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7136" y="52578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7FB"/>
                </a:solidFill>
              </a:rPr>
              <a:t>7 visuels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25696" y="5650992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17136" y="568756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7FB"/>
                </a:solidFill>
              </a:rPr>
              <a:t>👤 Admin only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15783" y="4023360"/>
            <a:ext cx="2788920" cy="24231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07223" y="40965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7FB"/>
                </a:solidFill>
              </a:rPr>
              <a:t>#17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07223" y="43434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Opérationnel
KPIs &amp; Volumes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07223" y="52578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7FB"/>
                </a:solidFill>
              </a:rPr>
              <a:t>9 visuels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15783" y="5650992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07223" y="568756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7FB"/>
                </a:solidFill>
              </a:rPr>
              <a:t>👤 Admin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Logistique — ETL_Projet_BC (#21)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13 visualisations · Collection 🚚 Logistique BC · Accessible : Admin + Jean Logistique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12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657600" cy="516636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6576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538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KPIs &amp; Répartition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20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🚚 Expéditions Totales (scalar KPI)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📦 Lignes Totales (scalar KPI)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⚖️ Poids Brut Total — kg (scalar KPI)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📏 Distance Totale GPS — km (scalar KPI)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💰 Coût Logistique Total — € (scalar KPI)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🏭 Expéditions par Hub (pie chart)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417320"/>
            <a:ext cx="3657600" cy="516636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417320"/>
            <a:ext cx="365760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4538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Graphiques temporels &amp; analyses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74520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📅 Expéditions par Date (bar chart temporel)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📈 Évolution Coûts Logistiques (line chart)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📦 Poids Expédié par Hub (bar chart)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🤝 Clients par Hub (bar chart)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🚛 Coût &amp; Distance par Véhicule (bar chart)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3840480" cy="516636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3840480" cy="3474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4538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Tables &amp; Accès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34747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🏎️ Sessions GPS — Tableau Détaillé (table)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🛣️ Détail Sessions &amp; Coûts (table croisé)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Lien : /public/dashboard/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d3a803d3-f61b-4e7d-95ff-d93df97224a0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Ventes — ETL_Projet_BC (#19)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10 visualisations · Collection 🛒 Ventes BC · Accessible : Admin + Marie Dupont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13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794760" cy="516636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79476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5389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KPIs &amp; Temporel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20"/>
            <a:ext cx="34290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💰 CA Total BC — € (scalar)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📦 Commandes Distinctes (scalar)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🧺 Panier Moyen — € (scalar)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🌍 Pays Couverts (scalar)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📈 Évolution CA Mensuel (line chart temporel)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3794760" cy="516636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417320"/>
            <a:ext cx="379476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45389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Tableaux croisés dynamiques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74520"/>
            <a:ext cx="34290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🌍 CA par Pays — Top 15 (bar chart)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🏆 Top 10 Articles par CA (bar chart)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👥 Top 10 Clients par CA (bar chart)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📊 Volume Vendu par Pays (bar chart)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🛍️ CA par Catégorie d'Article (pie chart)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417320"/>
            <a:ext cx="3611880" cy="516636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417320"/>
            <a:ext cx="3611880" cy="3474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453896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Données &amp; Accès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874520"/>
            <a:ext cx="32461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Source : bc_gold.ecommerce_lines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JOIN bc_gold.articles (catégorie)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JOIN bc_gold.customers (pays)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19 990 lignes e-commerce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~200 articles référencés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90 clients actifs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Lien : /public/dashboard/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764dc7e6-bfa2-42f0-b33d...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Gestion des Utilisateurs &amp; Droits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4 groupes · 3 utilisateurs · Permissions différenciées par collection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14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794760" cy="5166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630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👑 Admin ETL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8716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admin@etl-projet.local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5468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7296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Mot de passe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9300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Admin2026!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7880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Groupe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9884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Administrators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6636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846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Accès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0468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Tous (7 dashboards)
Écriture + SQL Editor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1371600"/>
            <a:ext cx="3794760" cy="5166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19" y="14630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🚚 Jean Logistique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399" y="214884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39" y="216712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248716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logistique@etl-projet.local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399" y="315468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39" y="317296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Mot de passe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39" y="349300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Logistique2026!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399" y="416052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39" y="417880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Groupe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39" y="449884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Logistique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399" y="516636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39" y="51846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Accès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39" y="550468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Dashboard #15 + #21
Lecture seule · Pas de SQL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371600"/>
            <a:ext cx="3794760" cy="51663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14630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🛒 Marie Dupont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14884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16712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Email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48716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vente@etl-projet.local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315468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317296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Mot de passe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49300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(existant)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416052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417880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Groupe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49884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5166360"/>
            <a:ext cx="361188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51846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F7FB"/>
                </a:solidFill>
              </a:rPr>
              <a:t>Accès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50468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Dashboard #14 seulement
Lecture seule · Pas de SQL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446520"/>
            <a:ext cx="11612880" cy="292608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Matrice : 🚚 Logistique (#15,#21) ✅ Admin ✅ Jean  ❌ Marie  |  🛒 Ventes (#14,#19) ✅ Admin  ❌ Jean  ✅ Marie  |  📈 Direction/Clients/Opé ✅ Admin uniquement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Analyse des Risques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8 risques identifiés — Probabilité × Impact — Conformité RGPD/LPD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15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116128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8988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3898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Risque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38988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38988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38988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38988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Mitigation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10512"/>
            <a:ext cx="11612880" cy="5029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86537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86537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BC API indisponible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186537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Faible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186537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Élevé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86537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6/10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86537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WF-10BC détecte &lt; 30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50008"/>
            <a:ext cx="11612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40487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40487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Bug pg-protocol 1.11.0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2404872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Faible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2404872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Élevé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40487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6/10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240487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Résolu : s(v,max) + try/catch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89504"/>
            <a:ext cx="11612880" cy="5029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4436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94436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PG Windows KO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294436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Moyenne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294436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Moyen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294436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5A11"/>
                </a:solidFill>
              </a:rPr>
              <a:t>5/10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294436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Fallback staging auto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429000"/>
            <a:ext cx="11612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48386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R-04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48386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Saturation MinIO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3483864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Faible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3483864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Moyen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348386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7C10"/>
                </a:solidFill>
              </a:rPr>
              <a:t>4/10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3483864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Rétention 90j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968496"/>
            <a:ext cx="11612880" cy="5029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02336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R-05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0233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RGPD/LPD données clients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402336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Faible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402336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Élevé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402336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7/10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402336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Réseau privé + pseudo logs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507992"/>
            <a:ext cx="11612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456285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R-06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56285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Fuite credentials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456285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Faible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456285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Élevé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4920" y="456285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6/10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80" y="456285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→ Docker Secrets (recommandé)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047488"/>
            <a:ext cx="11612880" cy="50292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510235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R-07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10235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Dépendance n8n 2.21.7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46120" y="5102352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Moyenne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60520" y="5102352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Faible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4920" y="510235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7C10"/>
                </a:solidFill>
              </a:rPr>
              <a:t>4/10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97880" y="510235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Upgrade planifié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586983"/>
            <a:ext cx="11612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641847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R-08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641847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Panne serveur physique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46120" y="5641847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Très faible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60520" y="5641847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Critique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74920" y="5641847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5A11"/>
                </a:solidFill>
              </a:rPr>
              <a:t>5/10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97880" y="5641847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Backup volumes quotidien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Analyse Coûts &amp; Bénéfices — TCO /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ROI = 14,4× — Retour sur investissement en &lt; 1 mois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16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78892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8 000 €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842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9BD5"/>
                </a:solidFill>
              </a:rPr>
              <a:t>TCO 1ère année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417320"/>
            <a:ext cx="278892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5087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4 650 €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19842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9BD5"/>
                </a:solidFill>
              </a:rPr>
              <a:t>TCO/an suivantes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417320"/>
            <a:ext cx="278892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5087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48 000 €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9842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9BD5"/>
                </a:solidFill>
              </a:rPr>
              <a:t>Gain annuel estimé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4584" y="1417320"/>
            <a:ext cx="2788920" cy="10515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15087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14,4×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19842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606040"/>
            <a:ext cx="5669280" cy="38404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606040"/>
            <a:ext cx="566928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6426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Coûts (TCO)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6324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150 €/an — Infrastructure (VM/Raspberry Pi)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0 € — Licences (n8n, MinIO, PostgreSQL, Metabase)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3 000 € — Développement initial (~40h × 75€/h)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4 500 €/an — Maintenance (~5h/mois × 75€/h)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300 € — Formation utilisateurs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06040"/>
            <a:ext cx="5669280" cy="38404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606040"/>
            <a:ext cx="566928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6426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Bénéfices (ROI)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6324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33 000 €/an — Extraction BC automatisée (440h économisées)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15 000 €/an — Rapports logistiques (200h économisées)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Détection anomalies : J+1 → &lt; 30 min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Données : J-1 → &lt; 5 minutes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Gain commercial : ~37 500 €/an (Marie Dupont)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= 48 000 €/an gain total estimé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BC1 — Optimisation logistique  |  BC2 — Performance e-commerce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17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760720" cy="52120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76072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0817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BC1 — Optimisation Coûts Logistiques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PROBLÈME : Kilométrage non rattaché aux expéditions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Impossible de calculer le coût réel par livraison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SOLUTION : GPS → bc_gold.distances + Dashboard #21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KPI coût/km, vitesse moy., coût par véhicule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RÉSULTATS ATTENDUS :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Visibilité 100% (vs inexistante avant)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Temps analyse : 8h/mois → 30 min (-94%)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Économie carburant : ~2 000 €/an/véhicule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Détection tournées inefficaces : automatique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669280" cy="52120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66928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081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BC2 — Performance E-Commerce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PROBLÈME : 19 990 lignes e-commerce inexploitées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Pas de croisement avec catalogue BC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Exports Excel manuels, J+2, risque erreur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SOLUTION : WF-08F + WF-09BC + Dashboard #19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Tableau croisé pays × catégorie × article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RÉSULTATS ATTENDUS :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Délai rapport : J+2 → &lt; 5 min (-99%)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Analyse multi-dim. : article × pays × catégorie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Gain commercial : ~37 500 €/an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595959"/>
                </a:solidFill>
              </a:rPr>
              <a:t>  → Détection anomalies prix : automatique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Planification &amp; Gestion des Écarts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9BD5"/>
                </a:solidFill>
              </a:rPr>
              <a:t>26 mai → 26 juin 2026 — Prévu : 23.5j / Réalisé : 27j / Écart : +3.5j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18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116128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898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3898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Prévu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898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Réalisé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3898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Écart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3898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Action corrective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10512"/>
            <a:ext cx="11612880" cy="4114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8470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847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2j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847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2j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847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47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49424"/>
            <a:ext cx="11612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2860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Conception BC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286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2j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286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3j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286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+1j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286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5A11"/>
                </a:solidFill>
              </a:rPr>
              <a:t>Doc API BC insuffisante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688336"/>
            <a:ext cx="11612880" cy="4114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72491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2724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2j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724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2j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724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724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127248"/>
            <a:ext cx="11612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163824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Dev WF-01–08F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163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5j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163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6j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163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+1j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163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5A11"/>
                </a:solidFill>
              </a:rPr>
              <a:t>Debug NTLM proxy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566160"/>
            <a:ext cx="11612880" cy="4114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60273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Dev WF-09BC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602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2j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3602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3j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3602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+1j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602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5A11"/>
                </a:solidFill>
              </a:rPr>
              <a:t>Bug pg-protocol 1.11.0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005072"/>
            <a:ext cx="11612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0416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Dev WF-10BC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1j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1j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443983"/>
            <a:ext cx="11612880" cy="4114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4480559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Tests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44805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2j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44805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2j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9240" y="44805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4805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882896"/>
            <a:ext cx="11612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49194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Debug CDC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0440" y="4919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0j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4840" y="4919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0.5j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4919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+0.5j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4919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5A11"/>
                </a:solidFill>
              </a:rPr>
              <a:t>Anciens WF non désactivés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321808"/>
            <a:ext cx="11612880" cy="4114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5358384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BI Metabase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0440" y="5358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3j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34840" y="5358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3j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9240" y="5358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5358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5760720"/>
            <a:ext cx="11612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579729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Documentation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20440" y="5797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2j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34840" y="5797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2j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49240" y="5797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46520" y="5797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6199631"/>
            <a:ext cx="11612880" cy="4114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6236207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TOTAL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20440" y="623620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23.5j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34840" y="623620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27j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49240" y="623620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+3.5j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6520" y="623620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88952" cy="1920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7315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DÉMONSTRATION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2F7FB"/>
                </a:solidFill>
              </a:rPr>
              <a:t>Pipeline n8n · Metabase · Business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931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1. Déclencher WF-09BC via webhook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46227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2. Vérifier sync Gold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992624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3. Explorer les 7 dashboards Metabase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522975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4. Démonstration des rôles utilisateurs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20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760720" cy="52120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760720" cy="34747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0817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Objectifs atteints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✅ Pipeline ETL complet — 4 sources → BC → Gold → BI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✅ 13 workflows n8n automatisés — 0 intervention manuelle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✅ 20 505 enreg. synchronisés en 25 secondes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✅ 7 dashboards Metabase — 3 rôles utilisateurs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✅ Monitoring 30 min — alertes automatiques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✅ ROI = 14,4× — retour sur investissement &lt; 1 mois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669280" cy="521208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66928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081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Perspectives d'amélioration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🔲 Configurer Gmail OAuth2 pour alertes email réelles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🔲 Upgrade n8n → correction native pg-protocol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🔲 Élargir droits Metabase : Direction + Opérationnel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🔲 Analyses prédictives (ML sur kilométrage/ventes)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🔲 Migration secrets → Docker Secrets (sécurité)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F3864"/>
                </a:solidFill>
              </a:rPr>
              <a:t>• 🔲 Publication externe via reverse proxy (accès internet)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Chiffres Clés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7FB"/>
                </a:solidFill>
              </a:rPr>
              <a:t>ETL_Projet_BC — Nyanu Kodzo Selom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65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2F7FB"/>
                </a:solidFill>
              </a:rPr>
              <a:t>21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2788920" cy="1600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4630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9385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9BD5"/>
                </a:solidFill>
              </a:rPr>
              <a:t>Workflows n8n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371600"/>
            <a:ext cx="2788920" cy="1600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14630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19385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Dashboards Metabase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371600"/>
            <a:ext cx="2788920" cy="1600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4630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19385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Rôles utilisateurs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1371600"/>
            <a:ext cx="2788920" cy="1600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14630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19385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Tables BC (AL)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154680"/>
            <a:ext cx="2788920" cy="1600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324612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20 505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372160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Enreg. Gold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8688" y="3154680"/>
            <a:ext cx="2788920" cy="1600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18688" y="324612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372160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Sync BC → Gold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3154680"/>
            <a:ext cx="2788920" cy="1600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8776" y="324612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19 990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8776" y="372160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9BD5"/>
                </a:solidFill>
              </a:rPr>
              <a:t>Lignes e-commerce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98864" y="3154680"/>
            <a:ext cx="2788920" cy="1600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4" y="324612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4" y="372160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Délai détection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937760"/>
            <a:ext cx="2788920" cy="16002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50292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14,4×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55046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ROI estimé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18688" y="4937760"/>
            <a:ext cx="2788920" cy="1600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18688" y="50292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688" y="55046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Tests 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08776" y="4937760"/>
            <a:ext cx="2788920" cy="1600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08776" y="50292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 mois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8776" y="55046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Durée projet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98864" y="4937760"/>
            <a:ext cx="2788920" cy="1600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50292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0 €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8864" y="55046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Licences logicielles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43500"/>
            <a:ext cx="12188952" cy="17145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66360" y="4572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2F7FB"/>
                </a:solidFill>
              </a:rPr>
              <a:t>Nyanu Kodzo Selom  ·  kodzo.nyanu@gmail.com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B9BD5"/>
                </a:solidFill>
              </a:rPr>
              <a:t>Metabase : http://localhost:3000  ·  n8n : http://localhost:5678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7FB"/>
                </a:solidFill>
              </a:rPr>
              <a:t>ETL_Projet_BC —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